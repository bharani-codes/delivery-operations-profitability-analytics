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489F5"/>
          </a:solidFill>
          <a:ln w="12700">
            <a:solidFill>
              <a:srgbClr val="1489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644652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8A2B3"/>
                </a:solidFill>
              </a:rPr>
              <a:t>Delivery Operations • Power BI User Guide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89F5"/>
          </a:solidFill>
          <a:ln w="12700">
            <a:solidFill>
              <a:srgbClr val="1489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789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CC8FF"/>
                </a:solidFill>
              </a:rPr>
              <a:t>DELIVERY OPERATIONS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572768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</a:rPr>
              <a:t>Power BI User Guide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749808" y="2395728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7E8F8"/>
                </a:solidFill>
              </a:rPr>
              <a:t>How to navigate the report, use filters and interact with the analysis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49808" y="34015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C8FF"/>
                </a:solidFill>
              </a:rPr>
              <a:t>Report pages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68096" y="3730752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1.  Executive Overview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68096" y="4123944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2.  Delivery Performance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68096" y="4517136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3.  Profitability Analysis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68096" y="4910328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4.  Warehouse Details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0" y="1143000"/>
            <a:ext cx="3063240" cy="4251960"/>
          </a:xfrm>
          <a:prstGeom prst="roundRect">
            <a:avLst>
              <a:gd name="adj" fmla="val 1493"/>
            </a:avLst>
          </a:prstGeom>
          <a:solidFill>
            <a:srgbClr val="1D3E5F"/>
          </a:solidFill>
          <a:ln w="12700">
            <a:solidFill>
              <a:srgbClr val="3A628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49640" y="1481328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CC8FF"/>
                </a:solidFill>
              </a:rPr>
              <a:t>THIS GUIDE SHOWS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77072" y="1965960"/>
            <a:ext cx="2377440" cy="2743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FFFFFF"/>
                </a:solidFill>
              </a:rPr>
              <a:t>• What each page contains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FFFFFF"/>
                </a:solidFill>
              </a:rPr>
              <a:t>• How page navigation works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FFFFFF"/>
                </a:solidFill>
              </a:rPr>
              <a:t>• How to use slicers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FFFFFF"/>
                </a:solidFill>
              </a:rPr>
              <a:t>• How bookmarks switch views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FFFFFF"/>
                </a:solidFill>
              </a:rPr>
              <a:t>• How drill-through works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FFFFFF"/>
                </a:solidFill>
              </a:rPr>
              <a:t>• How RLS is tested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FFFFFF"/>
                </a:solidFill>
              </a:rPr>
              <a:t>• How to use custom tooltips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749808" y="60167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FC5D8"/>
                </a:solidFill>
              </a:rPr>
              <a:t>Synthetic dataset • Project demonstration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324D"/>
                </a:solidFill>
              </a:rPr>
              <a:t>1. Report navigation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1208" y="722376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Use the report’s built-in buttons to move between pages.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2423160" cy="1005840"/>
          </a:xfrm>
          <a:prstGeom prst="roundRect">
            <a:avLst>
              <a:gd name="adj" fmla="val 4545"/>
            </a:avLst>
          </a:prstGeom>
          <a:solidFill>
            <a:srgbClr val="DFF0FF"/>
          </a:solidFill>
          <a:ln w="12700">
            <a:solidFill>
              <a:srgbClr val="BFD7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2376" y="1563624"/>
            <a:ext cx="2167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7324D"/>
                </a:solidFill>
              </a:rPr>
              <a:t>Home / Executive Overview</a:t>
            </a:r>
            <a:endParaRPr lang="en-US" sz="1120" dirty="0"/>
          </a:p>
        </p:txBody>
      </p:sp>
      <p:sp>
        <p:nvSpPr>
          <p:cNvPr id="6" name="Text 4"/>
          <p:cNvSpPr/>
          <p:nvPr/>
        </p:nvSpPr>
        <p:spPr>
          <a:xfrm>
            <a:off x="722376" y="1856232"/>
            <a:ext cx="2167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89F5"/>
                </a:solidFill>
              </a:rPr>
              <a:t>Start here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22376" y="2084832"/>
            <a:ext cx="2167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Overall KPIs + business snapshot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081528" y="176479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89F5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447288" y="1417320"/>
            <a:ext cx="242316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BFD7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75304" y="1563624"/>
            <a:ext cx="2167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7324D"/>
                </a:solidFill>
              </a:rPr>
              <a:t>Delivery Performance</a:t>
            </a:r>
            <a:endParaRPr lang="en-US" sz="1120" dirty="0"/>
          </a:p>
        </p:txBody>
      </p:sp>
      <p:sp>
        <p:nvSpPr>
          <p:cNvPr id="11" name="Text 9"/>
          <p:cNvSpPr/>
          <p:nvPr/>
        </p:nvSpPr>
        <p:spPr>
          <a:xfrm>
            <a:off x="3575304" y="1856232"/>
            <a:ext cx="2167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89F5"/>
                </a:solidFill>
              </a:rPr>
              <a:t>Operations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575304" y="2084832"/>
            <a:ext cx="2167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Delay, processing, transit and partner analysis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934456" y="176479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89F5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300216" y="1417320"/>
            <a:ext cx="242316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BFD7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28232" y="1563624"/>
            <a:ext cx="2167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7324D"/>
                </a:solidFill>
              </a:rPr>
              <a:t>Profitability Analysis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6428232" y="1856232"/>
            <a:ext cx="2167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89F5"/>
                </a:solidFill>
              </a:rPr>
              <a:t>Bookmark view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28232" y="2084832"/>
            <a:ext cx="2167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Warehouse, region and profit analysis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787384" y="176479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89F5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153144" y="1417320"/>
            <a:ext cx="242316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BFD7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81160" y="1563624"/>
            <a:ext cx="2167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7324D"/>
                </a:solidFill>
              </a:rPr>
              <a:t>Warehouse Details</a:t>
            </a:r>
            <a:endParaRPr lang="en-US" sz="1120" dirty="0"/>
          </a:p>
        </p:txBody>
      </p:sp>
      <p:sp>
        <p:nvSpPr>
          <p:cNvPr id="21" name="Text 19"/>
          <p:cNvSpPr/>
          <p:nvPr/>
        </p:nvSpPr>
        <p:spPr>
          <a:xfrm>
            <a:off x="9281160" y="1856232"/>
            <a:ext cx="2167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89F5"/>
                </a:solidFill>
              </a:rPr>
              <a:t>Drill-through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281160" y="2084832"/>
            <a:ext cx="2167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One selected warehouse in detail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21792" y="2880360"/>
            <a:ext cx="10972800" cy="822960"/>
          </a:xfrm>
          <a:prstGeom prst="roundRect">
            <a:avLst>
              <a:gd name="adj" fmla="val 4444"/>
            </a:avLst>
          </a:prstGeom>
          <a:solidFill>
            <a:srgbClr val="EAF4FE"/>
          </a:solidFill>
          <a:ln w="12700">
            <a:solidFill>
              <a:srgbClr val="BCD9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2971800"/>
            <a:ext cx="1075334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</a:rPr>
              <a:t>Navigation rule: click the page button you need. Use Home to return to the Executive Overview. Warehouse Details is normally reached through drill-through rather than by opening it directly.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13232" y="4069080"/>
            <a:ext cx="329184" cy="329184"/>
          </a:xfrm>
          <a:prstGeom prst="ellipse">
            <a:avLst/>
          </a:prstGeom>
          <a:solidFill>
            <a:srgbClr val="1489F5"/>
          </a:solidFill>
          <a:ln w="12700">
            <a:solidFill>
              <a:srgbClr val="1489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" y="414223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52144" y="4050792"/>
            <a:ext cx="46360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2939"/>
                </a:solidFill>
              </a:rPr>
              <a:t>From Page 1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152144" y="4306824"/>
            <a:ext cx="4636008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67085"/>
                </a:solidFill>
              </a:rPr>
              <a:t>Click Delivery Performance or Warehouse Detail from the navigation sidebar.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6263640" y="4069080"/>
            <a:ext cx="329184" cy="329184"/>
          </a:xfrm>
          <a:prstGeom prst="ellipse">
            <a:avLst/>
          </a:prstGeom>
          <a:solidFill>
            <a:srgbClr val="1489F5"/>
          </a:solidFill>
          <a:ln w="12700">
            <a:solidFill>
              <a:srgbClr val="1489F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63640" y="414223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702552" y="4050792"/>
            <a:ext cx="46360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2939"/>
                </a:solidFill>
              </a:rPr>
              <a:t>On Page 2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702552" y="4306824"/>
            <a:ext cx="4636008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67085"/>
                </a:solidFill>
              </a:rPr>
              <a:t>Use the two top-right view buttons to switch Operational Analysis ↔ Profitability Analysis.</a:t>
            </a:r>
            <a:endParaRPr lang="en-US" sz="1020" dirty="0"/>
          </a:p>
        </p:txBody>
      </p:sp>
      <p:sp>
        <p:nvSpPr>
          <p:cNvPr id="33" name="Shape 31"/>
          <p:cNvSpPr/>
          <p:nvPr/>
        </p:nvSpPr>
        <p:spPr>
          <a:xfrm>
            <a:off x="713232" y="5138928"/>
            <a:ext cx="329184" cy="329184"/>
          </a:xfrm>
          <a:prstGeom prst="ellipse">
            <a:avLst/>
          </a:prstGeom>
          <a:solidFill>
            <a:srgbClr val="1489F5"/>
          </a:solidFill>
          <a:ln w="12700">
            <a:solidFill>
              <a:srgbClr val="1489F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3232" y="5212080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52144" y="5120640"/>
            <a:ext cx="46360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2939"/>
                </a:solidFill>
              </a:rPr>
              <a:t>On Page 3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1152144" y="5376672"/>
            <a:ext cx="4636008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67085"/>
                </a:solidFill>
              </a:rPr>
              <a:t>Use the Back button after a drill-through to return to the source page.</a:t>
            </a:r>
            <a:endParaRPr lang="en-US" sz="1020" dirty="0"/>
          </a:p>
        </p:txBody>
      </p:sp>
      <p:sp>
        <p:nvSpPr>
          <p:cNvPr id="37" name="Shape 35"/>
          <p:cNvSpPr/>
          <p:nvPr/>
        </p:nvSpPr>
        <p:spPr>
          <a:xfrm>
            <a:off x="6263640" y="5138928"/>
            <a:ext cx="329184" cy="329184"/>
          </a:xfrm>
          <a:prstGeom prst="ellipse">
            <a:avLst/>
          </a:prstGeom>
          <a:solidFill>
            <a:srgbClr val="1489F5"/>
          </a:solidFill>
          <a:ln w="12700">
            <a:solidFill>
              <a:srgbClr val="1489F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63640" y="5212080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702552" y="5120640"/>
            <a:ext cx="46360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2939"/>
                </a:solidFill>
              </a:rPr>
              <a:t>Keep context in mind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6702552" y="5376672"/>
            <a:ext cx="4636008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67085"/>
                </a:solidFill>
              </a:rPr>
              <a:t>Slicer selections remain part of the current filter context while exploring.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324D"/>
                </a:solidFill>
              </a:rPr>
              <a:t>2. Page 1 — Executive Overview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1208" y="722376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What is on the page and how to use it.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84048" y="1143000"/>
            <a:ext cx="7415784" cy="4974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pic>
        <p:nvPicPr>
          <p:cNvPr id="5" name="Image 0" descr="/mnt/data/c1399f22-7383-4f9e-9951-097344ecabc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486603"/>
            <a:ext cx="7360920" cy="428712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001000" y="1234440"/>
            <a:ext cx="329184" cy="329184"/>
          </a:xfrm>
          <a:prstGeom prst="ellipse">
            <a:avLst/>
          </a:prstGeom>
          <a:solidFill>
            <a:srgbClr val="1489F5"/>
          </a:solidFill>
          <a:ln w="12700">
            <a:solidFill>
              <a:srgbClr val="1489F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01000" y="130759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439912" y="1216152"/>
            <a:ext cx="30815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2939"/>
                </a:solidFill>
              </a:rPr>
              <a:t>Date slicer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439912" y="1472184"/>
            <a:ext cx="3081528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67085"/>
                </a:solidFill>
              </a:rPr>
              <a:t>Choose a date range. The KPI cards and charts update to that period.</a:t>
            </a:r>
            <a:endParaRPr lang="en-US" sz="1020" dirty="0"/>
          </a:p>
        </p:txBody>
      </p:sp>
      <p:sp>
        <p:nvSpPr>
          <p:cNvPr id="10" name="Shape 7"/>
          <p:cNvSpPr/>
          <p:nvPr/>
        </p:nvSpPr>
        <p:spPr>
          <a:xfrm>
            <a:off x="8001000" y="2176272"/>
            <a:ext cx="329184" cy="329184"/>
          </a:xfrm>
          <a:prstGeom prst="ellipse">
            <a:avLst/>
          </a:prstGeom>
          <a:solidFill>
            <a:srgbClr val="1489F5"/>
          </a:solidFill>
          <a:ln w="12700">
            <a:solidFill>
              <a:srgbClr val="1489F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01000" y="2249424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439912" y="2157984"/>
            <a:ext cx="30815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2939"/>
                </a:solidFill>
              </a:rPr>
              <a:t>Region slicer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439912" y="2414016"/>
            <a:ext cx="3081528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67085"/>
                </a:solidFill>
              </a:rPr>
              <a:t>Select a region from the dropdown to filter the overview.</a:t>
            </a:r>
            <a:endParaRPr lang="en-US" sz="1020" dirty="0"/>
          </a:p>
        </p:txBody>
      </p:sp>
      <p:sp>
        <p:nvSpPr>
          <p:cNvPr id="14" name="Shape 11"/>
          <p:cNvSpPr/>
          <p:nvPr/>
        </p:nvSpPr>
        <p:spPr>
          <a:xfrm>
            <a:off x="8001000" y="3118104"/>
            <a:ext cx="329184" cy="329184"/>
          </a:xfrm>
          <a:prstGeom prst="ellipse">
            <a:avLst/>
          </a:prstGeom>
          <a:solidFill>
            <a:srgbClr val="1489F5"/>
          </a:solidFill>
          <a:ln w="12700">
            <a:solidFill>
              <a:srgbClr val="1489F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001000" y="3191256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8439912" y="3099816"/>
            <a:ext cx="30815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2939"/>
                </a:solidFill>
              </a:rPr>
              <a:t>Warehouse slicer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8439912" y="3355848"/>
            <a:ext cx="3081528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67085"/>
                </a:solidFill>
              </a:rPr>
              <a:t>Select a warehouse to focus the report on one location.</a:t>
            </a:r>
            <a:endParaRPr lang="en-US" sz="1020" dirty="0"/>
          </a:p>
        </p:txBody>
      </p:sp>
      <p:sp>
        <p:nvSpPr>
          <p:cNvPr id="18" name="Shape 15"/>
          <p:cNvSpPr/>
          <p:nvPr/>
        </p:nvSpPr>
        <p:spPr>
          <a:xfrm>
            <a:off x="8001000" y="4059936"/>
            <a:ext cx="329184" cy="329184"/>
          </a:xfrm>
          <a:prstGeom prst="ellipse">
            <a:avLst/>
          </a:prstGeom>
          <a:solidFill>
            <a:srgbClr val="1489F5"/>
          </a:solidFill>
          <a:ln w="12700">
            <a:solidFill>
              <a:srgbClr val="1489F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01000" y="4133088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8439912" y="4041648"/>
            <a:ext cx="30815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2939"/>
                </a:solidFill>
              </a:rPr>
              <a:t>What you can see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8439912" y="4297680"/>
            <a:ext cx="3081528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67085"/>
                </a:solidFill>
              </a:rPr>
              <a:t>KPI cards, monthly Revenue/Profit, late-delivery ranking, regional orders and order status.</a:t>
            </a:r>
            <a:endParaRPr lang="en-US" sz="1020" dirty="0"/>
          </a:p>
        </p:txBody>
      </p:sp>
      <p:sp>
        <p:nvSpPr>
          <p:cNvPr id="22" name="Shape 19"/>
          <p:cNvSpPr/>
          <p:nvPr/>
        </p:nvSpPr>
        <p:spPr>
          <a:xfrm>
            <a:off x="8028432" y="5074920"/>
            <a:ext cx="1417320" cy="292608"/>
          </a:xfrm>
          <a:prstGeom prst="roundRect">
            <a:avLst>
              <a:gd name="adj" fmla="val 12500"/>
            </a:avLst>
          </a:prstGeom>
          <a:solidFill>
            <a:srgbClr val="1489F5"/>
          </a:solidFill>
          <a:ln w="12700">
            <a:solidFill>
              <a:srgbClr val="1489F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074152" y="5138928"/>
            <a:ext cx="1325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PAGE NAVIGATION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8028432" y="5468112"/>
            <a:ext cx="34290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67085"/>
                </a:solidFill>
              </a:rPr>
              <a:t>Use Delivery Performance or Warehouse Detail from the sidebar to go deeper.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324D"/>
                </a:solidFill>
              </a:rPr>
              <a:t>3. Using slicers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1208" y="722376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Slicers are the main way to narrow the report to a date, region or warehouse.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75488" y="1197864"/>
            <a:ext cx="7050024" cy="46725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pic>
        <p:nvPicPr>
          <p:cNvPr id="5" name="Image 0" descr="/mnt/data/c1399f22-7383-4f9e-9951-097344ecabc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97104"/>
            <a:ext cx="6995160" cy="407410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72400" y="1325880"/>
            <a:ext cx="329184" cy="329184"/>
          </a:xfrm>
          <a:prstGeom prst="ellipse">
            <a:avLst/>
          </a:prstGeom>
          <a:solidFill>
            <a:srgbClr val="1489F5"/>
          </a:solidFill>
          <a:ln w="12700">
            <a:solidFill>
              <a:srgbClr val="1489F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0" y="139903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211312" y="1307592"/>
            <a:ext cx="33558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2939"/>
                </a:solidFill>
              </a:rPr>
              <a:t>Date slicer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211312" y="1563624"/>
            <a:ext cx="3355848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67085"/>
                </a:solidFill>
              </a:rPr>
              <a:t>Pick the start and end dates, or drag the handles to adjust the range.</a:t>
            </a:r>
            <a:endParaRPr lang="en-US" sz="1020" dirty="0"/>
          </a:p>
        </p:txBody>
      </p:sp>
      <p:sp>
        <p:nvSpPr>
          <p:cNvPr id="10" name="Shape 7"/>
          <p:cNvSpPr/>
          <p:nvPr/>
        </p:nvSpPr>
        <p:spPr>
          <a:xfrm>
            <a:off x="7772400" y="2331720"/>
            <a:ext cx="329184" cy="329184"/>
          </a:xfrm>
          <a:prstGeom prst="ellipse">
            <a:avLst/>
          </a:prstGeom>
          <a:solidFill>
            <a:srgbClr val="1489F5"/>
          </a:solidFill>
          <a:ln w="12700">
            <a:solidFill>
              <a:srgbClr val="1489F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0" y="240487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211312" y="2313432"/>
            <a:ext cx="33558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2939"/>
                </a:solidFill>
              </a:rPr>
              <a:t>Region dropdown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211312" y="2569464"/>
            <a:ext cx="3355848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67085"/>
                </a:solidFill>
              </a:rPr>
              <a:t>Open the dropdown and select a region. The report recalculates for that selection.</a:t>
            </a:r>
            <a:endParaRPr lang="en-US" sz="1020" dirty="0"/>
          </a:p>
        </p:txBody>
      </p:sp>
      <p:sp>
        <p:nvSpPr>
          <p:cNvPr id="14" name="Shape 11"/>
          <p:cNvSpPr/>
          <p:nvPr/>
        </p:nvSpPr>
        <p:spPr>
          <a:xfrm>
            <a:off x="7772400" y="3337560"/>
            <a:ext cx="329184" cy="329184"/>
          </a:xfrm>
          <a:prstGeom prst="ellipse">
            <a:avLst/>
          </a:prstGeom>
          <a:solidFill>
            <a:srgbClr val="1489F5"/>
          </a:solidFill>
          <a:ln w="12700">
            <a:solidFill>
              <a:srgbClr val="1489F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72400" y="341071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8211312" y="3319272"/>
            <a:ext cx="33558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2939"/>
                </a:solidFill>
              </a:rPr>
              <a:t>Warehouse dropdown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8211312" y="3575304"/>
            <a:ext cx="3355848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67085"/>
                </a:solidFill>
              </a:rPr>
              <a:t>Select a warehouse to isolate its performance. This is useful before deeper investigation.</a:t>
            </a:r>
            <a:endParaRPr lang="en-US" sz="1020" dirty="0"/>
          </a:p>
        </p:txBody>
      </p:sp>
      <p:sp>
        <p:nvSpPr>
          <p:cNvPr id="18" name="Shape 15"/>
          <p:cNvSpPr/>
          <p:nvPr/>
        </p:nvSpPr>
        <p:spPr>
          <a:xfrm>
            <a:off x="7772400" y="4343400"/>
            <a:ext cx="329184" cy="329184"/>
          </a:xfrm>
          <a:prstGeom prst="ellipse">
            <a:avLst/>
          </a:prstGeom>
          <a:solidFill>
            <a:srgbClr val="1489F5"/>
          </a:solidFill>
          <a:ln w="12700">
            <a:solidFill>
              <a:srgbClr val="1489F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72400" y="44165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8211312" y="4325112"/>
            <a:ext cx="33558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2939"/>
                </a:solidFill>
              </a:rPr>
              <a:t>Clear the filter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8211312" y="4581144"/>
            <a:ext cx="3355848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67085"/>
                </a:solidFill>
              </a:rPr>
              <a:t>Use the slicer’s clear/reset control when you want the full dataset back.</a:t>
            </a:r>
            <a:endParaRPr lang="en-US" sz="1020" dirty="0"/>
          </a:p>
        </p:txBody>
      </p:sp>
      <p:sp>
        <p:nvSpPr>
          <p:cNvPr id="22" name="Shape 19"/>
          <p:cNvSpPr/>
          <p:nvPr/>
        </p:nvSpPr>
        <p:spPr>
          <a:xfrm>
            <a:off x="502920" y="5998464"/>
            <a:ext cx="11064240" cy="502920"/>
          </a:xfrm>
          <a:prstGeom prst="roundRect">
            <a:avLst>
              <a:gd name="adj" fmla="val 7273"/>
            </a:avLst>
          </a:prstGeom>
          <a:solidFill>
            <a:srgbClr val="EAF4FE"/>
          </a:solidFill>
          <a:ln w="12700">
            <a:solidFill>
              <a:srgbClr val="BCD9F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12648" y="6089904"/>
            <a:ext cx="1084478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</a:rPr>
              <a:t>Tip: combine slicers. Example: choose a region, then choose a warehouse inside that analysis context.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324D"/>
                </a:solidFill>
              </a:rPr>
              <a:t>4. Page 2 — Operational Analysis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1208" y="722376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Use this view to investigate delivery performance and operating patterns.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84048" y="1161288"/>
            <a:ext cx="7507224" cy="48554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pic>
        <p:nvPicPr>
          <p:cNvPr id="5" name="Image 0" descr="/mnt/data/0e09ca59-6cbf-4a4c-adf5-a6ac81221ff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486990"/>
            <a:ext cx="7452360" cy="420406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001000" y="1261872"/>
            <a:ext cx="329184" cy="329184"/>
          </a:xfrm>
          <a:prstGeom prst="ellipse">
            <a:avLst/>
          </a:prstGeom>
          <a:solidFill>
            <a:srgbClr val="1489F5"/>
          </a:solidFill>
          <a:ln w="12700">
            <a:solidFill>
              <a:srgbClr val="1489F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01000" y="1335024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439912" y="1243584"/>
            <a:ext cx="30815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2939"/>
                </a:solidFill>
              </a:rPr>
              <a:t>Warehouse Analysis selector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439912" y="1499616"/>
            <a:ext cx="3081528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67085"/>
                </a:solidFill>
              </a:rPr>
              <a:t>Choose Average processing, Late Delivery % or Total Orders. The warehouse ranking changes to that metric.</a:t>
            </a:r>
            <a:endParaRPr lang="en-US" sz="1020" dirty="0"/>
          </a:p>
        </p:txBody>
      </p:sp>
      <p:sp>
        <p:nvSpPr>
          <p:cNvPr id="10" name="Shape 7"/>
          <p:cNvSpPr/>
          <p:nvPr/>
        </p:nvSpPr>
        <p:spPr>
          <a:xfrm>
            <a:off x="8001000" y="2304288"/>
            <a:ext cx="329184" cy="329184"/>
          </a:xfrm>
          <a:prstGeom prst="ellipse">
            <a:avLst/>
          </a:prstGeom>
          <a:solidFill>
            <a:srgbClr val="1489F5"/>
          </a:solidFill>
          <a:ln w="12700">
            <a:solidFill>
              <a:srgbClr val="1489F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01000" y="2377440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439912" y="2286000"/>
            <a:ext cx="30815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2939"/>
                </a:solidFill>
              </a:rPr>
              <a:t>Operational visuals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439912" y="2542032"/>
            <a:ext cx="3081528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67085"/>
                </a:solidFill>
              </a:rPr>
              <a:t>Use the warehouse comparison, processing-vs-late relationship, partner transit and regional late-delivery visuals.</a:t>
            </a:r>
            <a:endParaRPr lang="en-US" sz="1020" dirty="0"/>
          </a:p>
        </p:txBody>
      </p:sp>
      <p:sp>
        <p:nvSpPr>
          <p:cNvPr id="14" name="Shape 11"/>
          <p:cNvSpPr/>
          <p:nvPr/>
        </p:nvSpPr>
        <p:spPr>
          <a:xfrm>
            <a:off x="8001000" y="3346704"/>
            <a:ext cx="329184" cy="329184"/>
          </a:xfrm>
          <a:prstGeom prst="ellipse">
            <a:avLst/>
          </a:prstGeom>
          <a:solidFill>
            <a:srgbClr val="1489F5"/>
          </a:solidFill>
          <a:ln w="12700">
            <a:solidFill>
              <a:srgbClr val="1489F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001000" y="3419856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8439912" y="3328416"/>
            <a:ext cx="30815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2939"/>
                </a:solidFill>
              </a:rPr>
              <a:t>Hover for details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8439912" y="3584448"/>
            <a:ext cx="3081528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67085"/>
                </a:solidFill>
              </a:rPr>
              <a:t>Hover over a warehouse bar or other visual element to inspect the exact value or tooltip details.</a:t>
            </a:r>
            <a:endParaRPr lang="en-US" sz="1020" dirty="0"/>
          </a:p>
        </p:txBody>
      </p:sp>
      <p:sp>
        <p:nvSpPr>
          <p:cNvPr id="18" name="Shape 15"/>
          <p:cNvSpPr/>
          <p:nvPr/>
        </p:nvSpPr>
        <p:spPr>
          <a:xfrm>
            <a:off x="8001000" y="4389120"/>
            <a:ext cx="329184" cy="329184"/>
          </a:xfrm>
          <a:prstGeom prst="ellipse">
            <a:avLst/>
          </a:prstGeom>
          <a:solidFill>
            <a:srgbClr val="1489F5"/>
          </a:solidFill>
          <a:ln w="12700">
            <a:solidFill>
              <a:srgbClr val="1489F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01000" y="446227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8439912" y="4370832"/>
            <a:ext cx="30815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2939"/>
                </a:solidFill>
              </a:rPr>
              <a:t>Switch views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8439912" y="4626864"/>
            <a:ext cx="3081528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67085"/>
                </a:solidFill>
              </a:rPr>
              <a:t>The Profitability Analysis button changes the page to the profitability bookmark state.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324D"/>
                </a:solidFill>
              </a:rPr>
              <a:t>5. Bookmarks — switching Operational ↔ Profitability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1208" y="722376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Bookmarks save a report view so the same page can behave like two analysis modes.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29768" y="1325880"/>
            <a:ext cx="5312664" cy="33924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pic>
        <p:nvPicPr>
          <p:cNvPr id="5" name="Image 0" descr="/mnt/data/0e09ca59-6cbf-4a4c-adf5-a6ac81221ff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39064"/>
            <a:ext cx="5257800" cy="296605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281928" y="1325880"/>
            <a:ext cx="5312664" cy="33924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pic>
        <p:nvPicPr>
          <p:cNvPr id="7" name="Image 1" descr="/mnt/data/dcdc8c6c-573e-4741-9980-7aa5b9ded59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54148"/>
            <a:ext cx="5257800" cy="3335889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85800" y="1572768"/>
            <a:ext cx="1645920" cy="292608"/>
          </a:xfrm>
          <a:prstGeom prst="roundRect">
            <a:avLst>
              <a:gd name="adj" fmla="val 12500"/>
            </a:avLst>
          </a:prstGeom>
          <a:solidFill>
            <a:srgbClr val="1489F5"/>
          </a:solidFill>
          <a:ln w="12700">
            <a:solidFill>
              <a:srgbClr val="1489F5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31520" y="1636776"/>
            <a:ext cx="1554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OPERATIONAL ANALYSIS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6537960" y="1572768"/>
            <a:ext cx="1737360" cy="292608"/>
          </a:xfrm>
          <a:prstGeom prst="roundRect">
            <a:avLst>
              <a:gd name="adj" fmla="val 12500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583680" y="1636776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PROFITABILITY ANALYSIS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685800" y="488289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Operational state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6537960" y="488289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Profitability state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5230368"/>
            <a:ext cx="329184" cy="329184"/>
          </a:xfrm>
          <a:prstGeom prst="ellipse">
            <a:avLst/>
          </a:prstGeom>
          <a:solidFill>
            <a:srgbClr val="1489F5"/>
          </a:solidFill>
          <a:ln w="12700">
            <a:solidFill>
              <a:srgbClr val="1489F5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0080" y="5303520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078992" y="5212080"/>
            <a:ext cx="45445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2939"/>
                </a:solidFill>
              </a:rPr>
              <a:t>Click Operational Analysis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1078992" y="5468112"/>
            <a:ext cx="4544568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67085"/>
                </a:solidFill>
              </a:rPr>
              <a:t>Shows the saved operational visuals and KPI set.</a:t>
            </a:r>
            <a:endParaRPr lang="en-US" sz="1020" dirty="0"/>
          </a:p>
        </p:txBody>
      </p:sp>
      <p:sp>
        <p:nvSpPr>
          <p:cNvPr id="18" name="Shape 14"/>
          <p:cNvSpPr/>
          <p:nvPr/>
        </p:nvSpPr>
        <p:spPr>
          <a:xfrm>
            <a:off x="6263640" y="5230368"/>
            <a:ext cx="329184" cy="329184"/>
          </a:xfrm>
          <a:prstGeom prst="ellipse">
            <a:avLst/>
          </a:prstGeom>
          <a:solidFill>
            <a:srgbClr val="1489F5"/>
          </a:solidFill>
          <a:ln w="12700">
            <a:solidFill>
              <a:srgbClr val="1489F5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263640" y="5303520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6702552" y="5212080"/>
            <a:ext cx="45445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2939"/>
                </a:solidFill>
              </a:rPr>
              <a:t>Click Profitability Analysis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6702552" y="5468112"/>
            <a:ext cx="4544568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67085"/>
                </a:solidFill>
              </a:rPr>
              <a:t>Shows the saved profitability visuals and KPI set.</a:t>
            </a:r>
            <a:endParaRPr lang="en-US" sz="1020" dirty="0"/>
          </a:p>
        </p:txBody>
      </p:sp>
      <p:sp>
        <p:nvSpPr>
          <p:cNvPr id="22" name="Text 18"/>
          <p:cNvSpPr/>
          <p:nvPr/>
        </p:nvSpPr>
        <p:spPr>
          <a:xfrm>
            <a:off x="640080" y="617220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Use this when you want to change the analysis focus without moving to another page.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324D"/>
                </a:solidFill>
              </a:rPr>
              <a:t>6. Page 2 — Profitability Analysis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1208" y="722376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The same report page, switched into a saved profitability view.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84048" y="1179576"/>
            <a:ext cx="7552944" cy="4773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pic>
        <p:nvPicPr>
          <p:cNvPr id="5" name="Image 0" descr="/mnt/data/dcdc8c6c-573e-4741-9980-7aa5b9ded59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2186" y="1207008"/>
            <a:ext cx="7436668" cy="471830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092440" y="1298448"/>
            <a:ext cx="329184" cy="329184"/>
          </a:xfrm>
          <a:prstGeom prst="ellipse">
            <a:avLst/>
          </a:prstGeom>
          <a:solidFill>
            <a:srgbClr val="1489F5"/>
          </a:solidFill>
          <a:ln w="12700">
            <a:solidFill>
              <a:srgbClr val="1489F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92440" y="1371600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531352" y="1280160"/>
            <a:ext cx="30358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2939"/>
                </a:solidFill>
              </a:rPr>
              <a:t>Profit KPIs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531352" y="1536192"/>
            <a:ext cx="3035808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67085"/>
                </a:solidFill>
              </a:rPr>
              <a:t>Revenue, Profit, Profit Margin and Loss-Making Orders % summarize the financial position.</a:t>
            </a:r>
            <a:endParaRPr lang="en-US" sz="1020" dirty="0"/>
          </a:p>
        </p:txBody>
      </p:sp>
      <p:sp>
        <p:nvSpPr>
          <p:cNvPr id="10" name="Shape 7"/>
          <p:cNvSpPr/>
          <p:nvPr/>
        </p:nvSpPr>
        <p:spPr>
          <a:xfrm>
            <a:off x="8092440" y="2313432"/>
            <a:ext cx="329184" cy="329184"/>
          </a:xfrm>
          <a:prstGeom prst="ellipse">
            <a:avLst/>
          </a:prstGeom>
          <a:solidFill>
            <a:srgbClr val="1489F5"/>
          </a:solidFill>
          <a:ln w="12700">
            <a:solidFill>
              <a:srgbClr val="1489F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92440" y="2386584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531352" y="2295144"/>
            <a:ext cx="30358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2939"/>
                </a:solidFill>
              </a:rPr>
              <a:t>Warehouse profit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531352" y="2551176"/>
            <a:ext cx="3035808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67085"/>
                </a:solidFill>
              </a:rPr>
              <a:t>Shows which warehouses generate more total profit.</a:t>
            </a:r>
            <a:endParaRPr lang="en-US" sz="1020" dirty="0"/>
          </a:p>
        </p:txBody>
      </p:sp>
      <p:sp>
        <p:nvSpPr>
          <p:cNvPr id="14" name="Shape 11"/>
          <p:cNvSpPr/>
          <p:nvPr/>
        </p:nvSpPr>
        <p:spPr>
          <a:xfrm>
            <a:off x="8092440" y="3328416"/>
            <a:ext cx="329184" cy="329184"/>
          </a:xfrm>
          <a:prstGeom prst="ellipse">
            <a:avLst/>
          </a:prstGeom>
          <a:solidFill>
            <a:srgbClr val="1489F5"/>
          </a:solidFill>
          <a:ln w="12700">
            <a:solidFill>
              <a:srgbClr val="1489F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092440" y="3401568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8531352" y="3310128"/>
            <a:ext cx="30358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2939"/>
                </a:solidFill>
              </a:rPr>
              <a:t>Regional profit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8531352" y="3566160"/>
            <a:ext cx="3035808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67085"/>
                </a:solidFill>
              </a:rPr>
              <a:t>Compares total profit across West, Central, East and South.</a:t>
            </a:r>
            <a:endParaRPr lang="en-US" sz="1020" dirty="0"/>
          </a:p>
        </p:txBody>
      </p:sp>
      <p:sp>
        <p:nvSpPr>
          <p:cNvPr id="18" name="Shape 15"/>
          <p:cNvSpPr/>
          <p:nvPr/>
        </p:nvSpPr>
        <p:spPr>
          <a:xfrm>
            <a:off x="8092440" y="4343400"/>
            <a:ext cx="329184" cy="329184"/>
          </a:xfrm>
          <a:prstGeom prst="ellipse">
            <a:avLst/>
          </a:prstGeom>
          <a:solidFill>
            <a:srgbClr val="1489F5"/>
          </a:solidFill>
          <a:ln w="12700">
            <a:solidFill>
              <a:srgbClr val="1489F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92440" y="44165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8531352" y="4325112"/>
            <a:ext cx="30358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2939"/>
                </a:solidFill>
              </a:rPr>
              <a:t>Segment + month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8531352" y="4581144"/>
            <a:ext cx="3035808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67085"/>
                </a:solidFill>
              </a:rPr>
              <a:t>Compare loss-making order % by segment and see monthly profit movement.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324D"/>
                </a:solidFill>
              </a:rPr>
              <a:t>7. Page 3 — Warehouse Details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1208" y="722376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This page is designed to be reached through drill-through from a warehouse visual.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84048" y="1161288"/>
            <a:ext cx="7507224" cy="48554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pic>
        <p:nvPicPr>
          <p:cNvPr id="5" name="Image 0" descr="/mnt/data/5f53b652-4035-40f5-90c4-8b27659741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35903"/>
            <a:ext cx="7452360" cy="450623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001000" y="1298448"/>
            <a:ext cx="329184" cy="329184"/>
          </a:xfrm>
          <a:prstGeom prst="ellipse">
            <a:avLst/>
          </a:prstGeom>
          <a:solidFill>
            <a:srgbClr val="1489F5"/>
          </a:solidFill>
          <a:ln w="12700">
            <a:solidFill>
              <a:srgbClr val="1489F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01000" y="1371600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439912" y="1280160"/>
            <a:ext cx="30358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2939"/>
                </a:solidFill>
              </a:rPr>
              <a:t>Warehouse-specific KPIs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439912" y="1536192"/>
            <a:ext cx="3035808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67085"/>
                </a:solidFill>
              </a:rPr>
              <a:t>Once drilled through, the KPI cards show only the selected warehouse.</a:t>
            </a:r>
            <a:endParaRPr lang="en-US" sz="1020" dirty="0"/>
          </a:p>
        </p:txBody>
      </p:sp>
      <p:sp>
        <p:nvSpPr>
          <p:cNvPr id="10" name="Shape 7"/>
          <p:cNvSpPr/>
          <p:nvPr/>
        </p:nvSpPr>
        <p:spPr>
          <a:xfrm>
            <a:off x="8001000" y="2313432"/>
            <a:ext cx="329184" cy="329184"/>
          </a:xfrm>
          <a:prstGeom prst="ellipse">
            <a:avLst/>
          </a:prstGeom>
          <a:solidFill>
            <a:srgbClr val="1489F5"/>
          </a:solidFill>
          <a:ln w="12700">
            <a:solidFill>
              <a:srgbClr val="1489F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01000" y="2386584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439912" y="2295144"/>
            <a:ext cx="30358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2939"/>
                </a:solidFill>
              </a:rPr>
              <a:t>Operational detail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439912" y="2551176"/>
            <a:ext cx="3035808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67085"/>
                </a:solidFill>
              </a:rPr>
              <a:t>Processing vs transit days and partner transit performance are filtered to that warehouse.</a:t>
            </a:r>
            <a:endParaRPr lang="en-US" sz="1020" dirty="0"/>
          </a:p>
        </p:txBody>
      </p:sp>
      <p:sp>
        <p:nvSpPr>
          <p:cNvPr id="14" name="Shape 11"/>
          <p:cNvSpPr/>
          <p:nvPr/>
        </p:nvSpPr>
        <p:spPr>
          <a:xfrm>
            <a:off x="8001000" y="3328416"/>
            <a:ext cx="329184" cy="329184"/>
          </a:xfrm>
          <a:prstGeom prst="ellipse">
            <a:avLst/>
          </a:prstGeom>
          <a:solidFill>
            <a:srgbClr val="1489F5"/>
          </a:solidFill>
          <a:ln w="12700">
            <a:solidFill>
              <a:srgbClr val="1489F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001000" y="3401568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8439912" y="3310128"/>
            <a:ext cx="30358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2939"/>
                </a:solidFill>
              </a:rPr>
              <a:t>Order outcomes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8439912" y="3566160"/>
            <a:ext cx="3035808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67085"/>
                </a:solidFill>
              </a:rPr>
              <a:t>The donut shows Delivered, Cancelled and Failed/Returned orders for that warehouse.</a:t>
            </a:r>
            <a:endParaRPr lang="en-US" sz="1020" dirty="0"/>
          </a:p>
        </p:txBody>
      </p:sp>
      <p:sp>
        <p:nvSpPr>
          <p:cNvPr id="18" name="Shape 15"/>
          <p:cNvSpPr/>
          <p:nvPr/>
        </p:nvSpPr>
        <p:spPr>
          <a:xfrm>
            <a:off x="8001000" y="4343400"/>
            <a:ext cx="329184" cy="329184"/>
          </a:xfrm>
          <a:prstGeom prst="ellipse">
            <a:avLst/>
          </a:prstGeom>
          <a:solidFill>
            <a:srgbClr val="1489F5"/>
          </a:solidFill>
          <a:ln w="12700">
            <a:solidFill>
              <a:srgbClr val="1489F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01000" y="44165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8439912" y="4325112"/>
            <a:ext cx="30358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2939"/>
                </a:solidFill>
              </a:rPr>
              <a:t>Profitability detail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8439912" y="4581144"/>
            <a:ext cx="3035808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67085"/>
                </a:solidFill>
              </a:rPr>
              <a:t>Profit Margin by Customer Segment shows margin rates within the selected warehouse.</a:t>
            </a:r>
            <a:endParaRPr lang="en-US" sz="1020" dirty="0"/>
          </a:p>
        </p:txBody>
      </p:sp>
      <p:sp>
        <p:nvSpPr>
          <p:cNvPr id="22" name="Shape 19"/>
          <p:cNvSpPr/>
          <p:nvPr/>
        </p:nvSpPr>
        <p:spPr>
          <a:xfrm>
            <a:off x="548640" y="5989320"/>
            <a:ext cx="10972800" cy="502920"/>
          </a:xfrm>
          <a:prstGeom prst="roundRect">
            <a:avLst>
              <a:gd name="adj" fmla="val 7273"/>
            </a:avLst>
          </a:prstGeom>
          <a:solidFill>
            <a:srgbClr val="EAF4FE"/>
          </a:solidFill>
          <a:ln w="12700">
            <a:solidFill>
              <a:srgbClr val="BCD9F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8368" y="6080760"/>
            <a:ext cx="1075334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</a:rPr>
              <a:t>Use the Back button in the top-left of the page to return to the page you drilled from.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324D"/>
                </a:solidFill>
              </a:rPr>
              <a:t>8. Drill-through — how to use it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1208" y="722376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Drill-through moves from a warehouse summary to a warehouse-specific detail page.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11480" y="1252728"/>
            <a:ext cx="5449824" cy="32552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pic>
        <p:nvPicPr>
          <p:cNvPr id="5" name="Image 0" descr="/mnt/data/c1399f22-7383-4f9e-9951-097344ecabc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309300"/>
            <a:ext cx="5394960" cy="3142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327648" y="1252728"/>
            <a:ext cx="5449824" cy="32552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pic>
        <p:nvPicPr>
          <p:cNvPr id="7" name="Image 1" descr="/mnt/data/5f53b652-4035-40f5-90c4-8b276597412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6167" y="1280160"/>
            <a:ext cx="5292786" cy="32004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58368" y="1481328"/>
            <a:ext cx="1143000" cy="292608"/>
          </a:xfrm>
          <a:prstGeom prst="roundRect">
            <a:avLst>
              <a:gd name="adj" fmla="val 12500"/>
            </a:avLst>
          </a:prstGeom>
          <a:solidFill>
            <a:srgbClr val="1489F5"/>
          </a:solidFill>
          <a:ln w="12700">
            <a:solidFill>
              <a:srgbClr val="1489F5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04088" y="1545336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SOURCE PAGE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6565392" y="1481328"/>
            <a:ext cx="1115568" cy="292608"/>
          </a:xfrm>
          <a:prstGeom prst="roundRect">
            <a:avLst>
              <a:gd name="adj" fmla="val 12500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611112" y="1545336"/>
            <a:ext cx="10241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DETAIL PAGE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658368" y="46817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1. Find a warehouse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658368" y="504748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2. Right-click the warehouse bar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58368" y="5413248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3. Choose Drill through → Warehouse Details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355080" y="468172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4. The selected Warehouse_ID filters Page 3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355080" y="504748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5. Review warehouse-specific KPIs and charts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355080" y="541324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6. Click Back to return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94360" y="5925312"/>
            <a:ext cx="10972800" cy="530352"/>
          </a:xfrm>
          <a:prstGeom prst="roundRect">
            <a:avLst>
              <a:gd name="adj" fmla="val 6897"/>
            </a:avLst>
          </a:prstGeom>
          <a:solidFill>
            <a:srgbClr val="EAF4FE"/>
          </a:solidFill>
          <a:ln w="12700">
            <a:solidFill>
              <a:srgbClr val="BCD9F6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04088" y="6016752"/>
            <a:ext cx="1075334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</a:rPr>
              <a:t>Drill-through field: DIM_WAREHOUSE[Warehouse_ID]  •  Keep all filters: On  •  Cross-report: Off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324D"/>
                </a:solidFill>
              </a:rPr>
              <a:t>9. RLS — Row-Level Security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1208" y="722376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RLS is used to restrict which rows a user can see based on a defined role.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29768" y="1207008"/>
            <a:ext cx="6912864" cy="45354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pic>
        <p:nvPicPr>
          <p:cNvPr id="5" name="Image 0" descr="/mnt/data/21797888-9cab-478d-b566-37087d58269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82476"/>
            <a:ext cx="6858000" cy="318448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699248" y="1325880"/>
            <a:ext cx="329184" cy="329184"/>
          </a:xfrm>
          <a:prstGeom prst="ellipse">
            <a:avLst/>
          </a:prstGeom>
          <a:solidFill>
            <a:srgbClr val="1489F5"/>
          </a:solidFill>
          <a:ln w="12700">
            <a:solidFill>
              <a:srgbClr val="1489F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699248" y="139903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138160" y="1307592"/>
            <a:ext cx="33101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2939"/>
                </a:solidFill>
              </a:rPr>
              <a:t>Open View as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138160" y="1563624"/>
            <a:ext cx="3310128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67085"/>
                </a:solidFill>
              </a:rPr>
              <a:t>In Power BI Desktop, use Modeling → View as roles.</a:t>
            </a:r>
            <a:endParaRPr lang="en-US" sz="1020" dirty="0"/>
          </a:p>
        </p:txBody>
      </p:sp>
      <p:sp>
        <p:nvSpPr>
          <p:cNvPr id="10" name="Shape 7"/>
          <p:cNvSpPr/>
          <p:nvPr/>
        </p:nvSpPr>
        <p:spPr>
          <a:xfrm>
            <a:off x="7699248" y="2359152"/>
            <a:ext cx="329184" cy="329184"/>
          </a:xfrm>
          <a:prstGeom prst="ellipse">
            <a:avLst/>
          </a:prstGeom>
          <a:solidFill>
            <a:srgbClr val="1489F5"/>
          </a:solidFill>
          <a:ln w="12700">
            <a:solidFill>
              <a:srgbClr val="1489F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99248" y="2432304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138160" y="2340864"/>
            <a:ext cx="33101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2939"/>
                </a:solidFill>
              </a:rPr>
              <a:t>Select a region role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138160" y="2596896"/>
            <a:ext cx="3310128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67085"/>
                </a:solidFill>
              </a:rPr>
              <a:t>Choose a role such as South, West, East or Central.</a:t>
            </a:r>
            <a:endParaRPr lang="en-US" sz="1020" dirty="0"/>
          </a:p>
        </p:txBody>
      </p:sp>
      <p:sp>
        <p:nvSpPr>
          <p:cNvPr id="14" name="Shape 11"/>
          <p:cNvSpPr/>
          <p:nvPr/>
        </p:nvSpPr>
        <p:spPr>
          <a:xfrm>
            <a:off x="7699248" y="3392424"/>
            <a:ext cx="329184" cy="329184"/>
          </a:xfrm>
          <a:prstGeom prst="ellipse">
            <a:avLst/>
          </a:prstGeom>
          <a:solidFill>
            <a:srgbClr val="1489F5"/>
          </a:solidFill>
          <a:ln w="12700">
            <a:solidFill>
              <a:srgbClr val="1489F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699248" y="3465576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8138160" y="3374136"/>
            <a:ext cx="33101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2939"/>
                </a:solidFill>
              </a:rPr>
              <a:t>Verify the report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8138160" y="3630168"/>
            <a:ext cx="3310128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67085"/>
                </a:solidFill>
              </a:rPr>
              <a:t>Check that the report visuals show only the allowed region’s data.</a:t>
            </a:r>
            <a:endParaRPr lang="en-US" sz="1020" dirty="0"/>
          </a:p>
        </p:txBody>
      </p:sp>
      <p:sp>
        <p:nvSpPr>
          <p:cNvPr id="18" name="Shape 15"/>
          <p:cNvSpPr/>
          <p:nvPr/>
        </p:nvSpPr>
        <p:spPr>
          <a:xfrm>
            <a:off x="7699248" y="4425696"/>
            <a:ext cx="329184" cy="329184"/>
          </a:xfrm>
          <a:prstGeom prst="ellipse">
            <a:avLst/>
          </a:prstGeom>
          <a:solidFill>
            <a:srgbClr val="1489F5"/>
          </a:solidFill>
          <a:ln w="12700">
            <a:solidFill>
              <a:srgbClr val="1489F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699248" y="4498848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8138160" y="4407408"/>
            <a:ext cx="33101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2939"/>
                </a:solidFill>
              </a:rPr>
              <a:t>Return to None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8138160" y="4663440"/>
            <a:ext cx="3310128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67085"/>
                </a:solidFill>
              </a:rPr>
              <a:t>After testing, return to the unrestricted Desktop view.</a:t>
            </a:r>
            <a:endParaRPr lang="en-US" sz="1020" dirty="0"/>
          </a:p>
        </p:txBody>
      </p:sp>
      <p:sp>
        <p:nvSpPr>
          <p:cNvPr id="22" name="Shape 19"/>
          <p:cNvSpPr/>
          <p:nvPr/>
        </p:nvSpPr>
        <p:spPr>
          <a:xfrm>
            <a:off x="457200" y="5925312"/>
            <a:ext cx="10972800" cy="548640"/>
          </a:xfrm>
          <a:prstGeom prst="roundRect">
            <a:avLst>
              <a:gd name="adj" fmla="val 6667"/>
            </a:avLst>
          </a:prstGeom>
          <a:solidFill>
            <a:srgbClr val="EAF4FE"/>
          </a:solidFill>
          <a:ln w="12700">
            <a:solidFill>
              <a:srgbClr val="BCD9F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66928" y="6016752"/>
            <a:ext cx="1075334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</a:rPr>
              <a:t>Important: RLS is an access-control feature. It changes what data a role can see; it is not a dashboard filter for analysis.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324D"/>
                </a:solidFill>
              </a:rPr>
              <a:t>10. Custom tooltip — inspect a warehouse without leaving the page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1208" y="722376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Hover over a warehouse visual element to reveal contextual metrics.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75488" y="1207008"/>
            <a:ext cx="7598664" cy="47640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pic>
        <p:nvPicPr>
          <p:cNvPr id="5" name="Image 0" descr="/mnt/data/c17fcf64-108d-48f3-bf8e-4cecb57cc1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72634"/>
            <a:ext cx="7543800" cy="403277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56448" y="1371600"/>
            <a:ext cx="329184" cy="329184"/>
          </a:xfrm>
          <a:prstGeom prst="ellipse">
            <a:avLst/>
          </a:prstGeom>
          <a:solidFill>
            <a:srgbClr val="1489F5"/>
          </a:solidFill>
          <a:ln w="12700">
            <a:solidFill>
              <a:srgbClr val="1489F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156448" y="14447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595360" y="1353312"/>
            <a:ext cx="29900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2939"/>
                </a:solidFill>
              </a:rPr>
              <a:t>Hover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595360" y="1609344"/>
            <a:ext cx="2990088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67085"/>
                </a:solidFill>
              </a:rPr>
              <a:t>Move the pointer over a warehouse bar or data point.</a:t>
            </a:r>
            <a:endParaRPr lang="en-US" sz="1020" dirty="0"/>
          </a:p>
        </p:txBody>
      </p:sp>
      <p:sp>
        <p:nvSpPr>
          <p:cNvPr id="10" name="Shape 7"/>
          <p:cNvSpPr/>
          <p:nvPr/>
        </p:nvSpPr>
        <p:spPr>
          <a:xfrm>
            <a:off x="8156448" y="2423160"/>
            <a:ext cx="329184" cy="329184"/>
          </a:xfrm>
          <a:prstGeom prst="ellipse">
            <a:avLst/>
          </a:prstGeom>
          <a:solidFill>
            <a:srgbClr val="1489F5"/>
          </a:solidFill>
          <a:ln w="12700">
            <a:solidFill>
              <a:srgbClr val="1489F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156448" y="249631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595360" y="2404872"/>
            <a:ext cx="29900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2939"/>
                </a:solidFill>
              </a:rPr>
              <a:t>Read the tooltip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595360" y="2660904"/>
            <a:ext cx="2990088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67085"/>
                </a:solidFill>
              </a:rPr>
              <a:t>The Warehouse_Tooltip page shows contextual values such as Partner Name and Average Transit Days.</a:t>
            </a:r>
            <a:endParaRPr lang="en-US" sz="1020" dirty="0"/>
          </a:p>
        </p:txBody>
      </p:sp>
      <p:sp>
        <p:nvSpPr>
          <p:cNvPr id="14" name="Shape 11"/>
          <p:cNvSpPr/>
          <p:nvPr/>
        </p:nvSpPr>
        <p:spPr>
          <a:xfrm>
            <a:off x="8156448" y="3474720"/>
            <a:ext cx="329184" cy="329184"/>
          </a:xfrm>
          <a:prstGeom prst="ellipse">
            <a:avLst/>
          </a:prstGeom>
          <a:solidFill>
            <a:srgbClr val="1489F5"/>
          </a:solidFill>
          <a:ln w="12700">
            <a:solidFill>
              <a:srgbClr val="1489F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156448" y="354787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8595360" y="3456432"/>
            <a:ext cx="29900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2939"/>
                </a:solidFill>
              </a:rPr>
              <a:t>Return to the analysis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8595360" y="3712464"/>
            <a:ext cx="2990088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67085"/>
                </a:solidFill>
              </a:rPr>
              <a:t>Move the pointer away and continue exploring; no page navigation is required.</a:t>
            </a:r>
            <a:endParaRPr lang="en-US" sz="1020" dirty="0"/>
          </a:p>
        </p:txBody>
      </p:sp>
      <p:sp>
        <p:nvSpPr>
          <p:cNvPr id="18" name="Shape 15"/>
          <p:cNvSpPr/>
          <p:nvPr/>
        </p:nvSpPr>
        <p:spPr>
          <a:xfrm>
            <a:off x="530352" y="5916168"/>
            <a:ext cx="10972800" cy="530352"/>
          </a:xfrm>
          <a:prstGeom prst="roundRect">
            <a:avLst>
              <a:gd name="adj" fmla="val 6897"/>
            </a:avLst>
          </a:prstGeom>
          <a:solidFill>
            <a:srgbClr val="EAF4FE"/>
          </a:solidFill>
          <a:ln w="12700">
            <a:solidFill>
              <a:srgbClr val="BCD9F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0080" y="6007608"/>
            <a:ext cx="1075334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</a:rPr>
              <a:t>Tooltip values are contextual: the same tooltip design can show different values depending on the warehouse or visual element being hovered.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324D"/>
                </a:solidFill>
              </a:rPr>
              <a:t>11. Quick user workflow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1208" y="722376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Use this sequence when reviewing the report.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1325880"/>
            <a:ext cx="5166360" cy="1005840"/>
          </a:xfrm>
          <a:prstGeom prst="roundRect">
            <a:avLst>
              <a:gd name="adj" fmla="val 3636"/>
            </a:avLst>
          </a:prstGeom>
          <a:solidFill>
            <a:srgbClr val="F2F7FD"/>
          </a:solidFill>
          <a:ln w="12700">
            <a:solidFill>
              <a:srgbClr val="D7E5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08760"/>
            <a:ext cx="384048" cy="384048"/>
          </a:xfrm>
          <a:prstGeom prst="ellipse">
            <a:avLst/>
          </a:prstGeom>
          <a:solidFill>
            <a:srgbClr val="1489F5"/>
          </a:solidFill>
          <a:ln w="12700">
            <a:solidFill>
              <a:srgbClr val="1489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00200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371600" y="1490472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Start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71600" y="1746504"/>
            <a:ext cx="416052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Open Executive Overview and review KPI cards.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58368" y="2624328"/>
            <a:ext cx="5166360" cy="1005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7E5F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807208"/>
            <a:ext cx="384048" cy="384048"/>
          </a:xfrm>
          <a:prstGeom prst="ellipse">
            <a:avLst/>
          </a:prstGeom>
          <a:solidFill>
            <a:srgbClr val="1489F5"/>
          </a:solidFill>
          <a:ln w="12700">
            <a:solidFill>
              <a:srgbClr val="1489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898648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371600" y="2788920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Filter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71600" y="3044952"/>
            <a:ext cx="416052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Apply Date, Region or Warehouse slicers.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58368" y="3922776"/>
            <a:ext cx="5166360" cy="1005840"/>
          </a:xfrm>
          <a:prstGeom prst="roundRect">
            <a:avLst>
              <a:gd name="adj" fmla="val 3636"/>
            </a:avLst>
          </a:prstGeom>
          <a:solidFill>
            <a:srgbClr val="F2F7FD"/>
          </a:solidFill>
          <a:ln w="12700">
            <a:solidFill>
              <a:srgbClr val="D7E5F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105656"/>
            <a:ext cx="384048" cy="384048"/>
          </a:xfrm>
          <a:prstGeom prst="ellipse">
            <a:avLst/>
          </a:prstGeom>
          <a:solidFill>
            <a:srgbClr val="1489F5"/>
          </a:solidFill>
          <a:ln w="12700">
            <a:solidFill>
              <a:srgbClr val="1489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19709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371600" y="4087368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Investigate operations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71600" y="4343400"/>
            <a:ext cx="416052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Open Delivery Performance and use the Warehouse Analysis selector.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327648" y="1325880"/>
            <a:ext cx="5166360" cy="1005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7E5F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1508760"/>
            <a:ext cx="384048" cy="384048"/>
          </a:xfrm>
          <a:prstGeom prst="ellipse">
            <a:avLst/>
          </a:prstGeom>
          <a:solidFill>
            <a:srgbClr val="1489F5"/>
          </a:solidFill>
          <a:ln w="12700">
            <a:solidFill>
              <a:srgbClr val="1489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1600200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040880" y="1490472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Switch financial view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040880" y="1746504"/>
            <a:ext cx="416052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Click Profitability Analysis to compare profit and margin.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327648" y="2624328"/>
            <a:ext cx="5166360" cy="1005840"/>
          </a:xfrm>
          <a:prstGeom prst="roundRect">
            <a:avLst>
              <a:gd name="adj" fmla="val 3636"/>
            </a:avLst>
          </a:prstGeom>
          <a:solidFill>
            <a:srgbClr val="F2F7FD"/>
          </a:solidFill>
          <a:ln w="12700">
            <a:solidFill>
              <a:srgbClr val="D7E5F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92240" y="2807208"/>
            <a:ext cx="384048" cy="384048"/>
          </a:xfrm>
          <a:prstGeom prst="ellipse">
            <a:avLst/>
          </a:prstGeom>
          <a:solidFill>
            <a:srgbClr val="1489F5"/>
          </a:solidFill>
          <a:ln w="12700">
            <a:solidFill>
              <a:srgbClr val="1489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2898648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040880" y="2788920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Go deeper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040880" y="3044952"/>
            <a:ext cx="416052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Right-click a warehouse → Drill through → Warehouse Details.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327648" y="3922776"/>
            <a:ext cx="5166360" cy="1005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7E5F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92240" y="4105656"/>
            <a:ext cx="384048" cy="384048"/>
          </a:xfrm>
          <a:prstGeom prst="ellipse">
            <a:avLst/>
          </a:prstGeom>
          <a:solidFill>
            <a:srgbClr val="1489F5"/>
          </a:solidFill>
          <a:ln w="12700">
            <a:solidFill>
              <a:srgbClr val="1489F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92240" y="419709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040880" y="4087368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Test access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040880" y="4343400"/>
            <a:ext cx="416052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Use Modeling → View as to validate RLS roles in Desktop.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58368" y="5468112"/>
            <a:ext cx="10881360" cy="713232"/>
          </a:xfrm>
          <a:prstGeom prst="roundRect">
            <a:avLst>
              <a:gd name="adj" fmla="val 5128"/>
            </a:avLst>
          </a:prstGeom>
          <a:solidFill>
            <a:srgbClr val="EAF4FE"/>
          </a:solidFill>
          <a:ln w="12700">
            <a:solidFill>
              <a:srgbClr val="BCD9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8096" y="5559552"/>
            <a:ext cx="1066190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</a:rPr>
              <a:t>The report is designed to be explored interactively: filter first, investigate second, drill-through only when a specific warehouse needs deeper review.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Project Documentation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Delivery Operations – Power BI User Guide</dc:title>
  <dc:subject>User Guide – Delivery Operations &amp; Profitability Analytics</dc:subject>
  <dc:creator>BHARANI DHARAN K</dc:creator>
  <cp:lastModifiedBy>BHARANI DHARAN K</cp:lastModifiedBy>
  <cp:revision>1</cp:revision>
  <dcterms:created xsi:type="dcterms:W3CDTF">2026-09-13T07:14:12Z</dcterms:created>
  <dcterms:modified xsi:type="dcterms:W3CDTF">2026-09-13T07:14:12Z</dcterms:modified>
</cp:coreProperties>
</file>